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71135"/>
            <a:ext cx="67871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rPr b="1" dirty="0" sz="2400">
                <a:latin typeface="Times New Roman" panose="02020603050405020304" pitchFamily="18" charset="0"/>
                <a:cs typeface="Times New Roman" panose="02020603050405020304" pitchFamily="18" charset="0"/>
              </a:rPr>
              <a:t>Effect of Variance Under-Dispersion on Individual Random Effects</a:t>
            </a:r>
          </a:p>
        </p:txBody>
      </p:sp>
      <p:pic>
        <p:nvPicPr>
          <p:cNvPr id="4" name="Picture 3" descr="u_posteri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8" y="1488344"/>
            <a:ext cx="4767532" cy="47629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876800" y="1927612"/>
                <a:ext cx="4244195" cy="3725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600" dirty="0">
                    <a:latin typeface="Times New Roman" panose="02020603050405020304" pitchFamily="18" charset="0"/>
                    <a:cs typeface="+mj-cs"/>
                  </a:rPr>
                  <a:t>•</a:t>
                </a:r>
                <a:r>
                  <a:rPr lang="en-NZ" dirty="0">
                    <a:cs typeface="+mj-cs"/>
                  </a:rPr>
                  <a:t> In hierarchical models: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a-IR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fa-IR" i="1">
                            <a:latin typeface="Cambria Math" panose="02040503050406030204" pitchFamily="18" charset="0"/>
                            <a:cs typeface="+mj-cs"/>
                          </a:rPr>
                          <m:t>𝑢</m:t>
                        </m:r>
                      </m:e>
                      <m:sub>
                        <m:r>
                          <a:rPr lang="fa-IR" i="1">
                            <a:latin typeface="Cambria Math" panose="02040503050406030204" pitchFamily="18" charset="0"/>
                            <a:cs typeface="+mj-cs"/>
                          </a:rPr>
                          <m:t>𝑞</m:t>
                        </m:r>
                      </m:sub>
                    </m:sSub>
                    <m:r>
                      <a:rPr lang="fa-IR">
                        <a:latin typeface="Cambria Math" panose="02040503050406030204" pitchFamily="18" charset="0"/>
                        <a:cs typeface="+mj-cs"/>
                      </a:rPr>
                      <m:t>∼</m:t>
                    </m:r>
                    <m:r>
                      <a:rPr lang="fa-IR">
                        <a:latin typeface="Cambria Math" panose="02040503050406030204" pitchFamily="18" charset="0"/>
                        <a:cs typeface="+mj-cs"/>
                      </a:rPr>
                      <m:t>𝒩</m:t>
                    </m:r>
                    <m:d>
                      <m:dPr>
                        <m:sepChr m:val=","/>
                        <m:ctrlPr>
                          <a:rPr lang="fa-IR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fa-IR">
                            <a:latin typeface="Cambria Math" panose="02040503050406030204" pitchFamily="18" charset="0"/>
                            <a:cs typeface="+mj-cs"/>
                          </a:rPr>
                          <m:t>0</m:t>
                        </m:r>
                      </m:e>
                      <m:e>
                        <m:sSubSup>
                          <m:sSubSupPr>
                            <m:ctrlPr>
                              <a:rPr lang="fa-IR" i="1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bSupPr>
                          <m:e>
                            <m:r>
                              <a:rPr lang="fa-IR" i="1">
                                <a:latin typeface="Cambria Math" panose="02040503050406030204" pitchFamily="18" charset="0"/>
                                <a:cs typeface="+mj-cs"/>
                              </a:rPr>
                              <m:t>𝜏</m:t>
                            </m:r>
                          </m:e>
                          <m:sub>
                            <m:r>
                              <a:rPr lang="fa-IR" i="1">
                                <a:latin typeface="Cambria Math" panose="02040503050406030204" pitchFamily="18" charset="0"/>
                                <a:cs typeface="+mj-cs"/>
                              </a:rPr>
                              <m:t>𝑢</m:t>
                            </m:r>
                          </m:sub>
                          <m:sup>
                            <m:r>
                              <a:rPr lang="fa-IR"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1600" dirty="0">
                    <a:latin typeface="Times New Roman" panose="02020603050405020304" pitchFamily="18" charset="0"/>
                    <a:cs typeface="+mj-cs"/>
                  </a:rPr>
                  <a:t> </a:t>
                </a:r>
                <a:endParaRPr lang="en-US" sz="1600" dirty="0">
                  <a:latin typeface="Times New Roman" panose="02020603050405020304" pitchFamily="18" charset="0"/>
                  <a:cs typeface="+mj-cs"/>
                </a:endParaRPr>
              </a:p>
              <a:p>
                <a:r>
                  <a:rPr sz="1600" dirty="0">
                    <a:latin typeface="Times New Roman" panose="02020603050405020304" pitchFamily="18" charset="0"/>
                    <a:cs typeface="+mj-cs"/>
                  </a:rPr>
                  <a:t>Mean-field VB underestimates </a:t>
                </a:r>
                <a:r>
                  <a:rPr sz="1600" dirty="0" err="1">
                    <a:latin typeface="Times New Roman" panose="02020603050405020304" pitchFamily="18" charset="0"/>
                    <a:cs typeface="+mj-cs"/>
                  </a:rPr>
                  <a:t>τ_u</a:t>
                </a:r>
                <a:endParaRPr sz="1600" dirty="0">
                  <a:latin typeface="Times New Roman" panose="02020603050405020304" pitchFamily="18" charset="0"/>
                  <a:cs typeface="+mj-cs"/>
                </a:endParaRPr>
              </a:p>
              <a:p>
                <a:r>
                  <a:rPr sz="1600" dirty="0">
                    <a:latin typeface="Times New Roman" panose="02020603050405020304" pitchFamily="18" charset="0"/>
                    <a:cs typeface="+mj-cs"/>
                  </a:rPr>
                  <a:t>• Reduced </a:t>
                </a:r>
                <a:r>
                  <a:rPr sz="1600" dirty="0" err="1">
                    <a:latin typeface="Times New Roman" panose="02020603050405020304" pitchFamily="18" charset="0"/>
                    <a:cs typeface="+mj-cs"/>
                  </a:rPr>
                  <a:t>τ_u</a:t>
                </a:r>
                <a:r>
                  <a:rPr sz="1600" dirty="0">
                    <a:latin typeface="Times New Roman" panose="02020603050405020304" pitchFamily="18" charset="0"/>
                    <a:cs typeface="+mj-cs"/>
                  </a:rPr>
                  <a:t> causes excessive shrinkage of </a:t>
                </a:r>
                <a:r>
                  <a:rPr sz="1600" dirty="0" err="1">
                    <a:latin typeface="Times New Roman" panose="02020603050405020304" pitchFamily="18" charset="0"/>
                    <a:cs typeface="+mj-cs"/>
                  </a:rPr>
                  <a:t>u_q</a:t>
                </a:r>
                <a:endParaRPr sz="1600" dirty="0">
                  <a:latin typeface="Times New Roman" panose="02020603050405020304" pitchFamily="18" charset="0"/>
                  <a:cs typeface="+mj-cs"/>
                </a:endParaRPr>
              </a:p>
              <a:p>
                <a:r>
                  <a:rPr sz="1600" dirty="0">
                    <a:latin typeface="Times New Roman" panose="02020603050405020304" pitchFamily="18" charset="0"/>
                    <a:cs typeface="+mj-cs"/>
                  </a:rPr>
                  <a:t>• VB posterior is artificially narrow</a:t>
                </a:r>
              </a:p>
              <a:p>
                <a:r>
                  <a:rPr sz="1600" dirty="0">
                    <a:latin typeface="Times New Roman" panose="02020603050405020304" pitchFamily="18" charset="0"/>
                    <a:cs typeface="+mj-cs"/>
                  </a:rPr>
                  <a:t>• Effect propagates to all hierarchical levels</a:t>
                </a:r>
                <a:endParaRPr lang="en-US" sz="1600" dirty="0">
                  <a:latin typeface="Times New Roman" panose="02020603050405020304" pitchFamily="18" charset="0"/>
                  <a:cs typeface="+mj-cs"/>
                </a:endParaRPr>
              </a:p>
              <a:p>
                <a:r>
                  <a:rPr lang="en-NZ" sz="1400" dirty="0">
                    <a:cs typeface="+mj-cs"/>
                  </a:rPr>
                  <a:t>So, When </a:t>
                </a:r>
                <a:r>
                  <a:rPr lang="el-GR" sz="1400" dirty="0">
                    <a:cs typeface="+mj-cs"/>
                  </a:rPr>
                  <a:t>τ</a:t>
                </a:r>
                <a:r>
                  <a:rPr lang="en-NZ" sz="1400" dirty="0">
                    <a:cs typeface="+mj-cs"/>
                  </a:rPr>
                  <a:t>ᵤ is too small:</a:t>
                </a:r>
              </a:p>
              <a:p>
                <a:pPr lvl="1"/>
                <a:r>
                  <a:rPr lang="en-NZ" sz="1400" dirty="0">
                    <a:cs typeface="+mj-cs"/>
                  </a:rPr>
                  <a:t>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400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fa-IR" sz="1400" i="1">
                            <a:latin typeface="Cambria Math" panose="02040503050406030204" pitchFamily="18" charset="0"/>
                            <a:cs typeface="+mj-cs"/>
                          </a:rPr>
                          <m:t>𝑢</m:t>
                        </m:r>
                      </m:e>
                      <m:sub>
                        <m:r>
                          <a:rPr lang="fa-IR" sz="1400" i="1">
                            <a:latin typeface="Cambria Math" panose="02040503050406030204" pitchFamily="18" charset="0"/>
                            <a:cs typeface="+mj-cs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NZ" sz="1400" dirty="0">
                    <a:cs typeface="+mj-cs"/>
                  </a:rPr>
                  <a:t>are </a:t>
                </a:r>
                <a:r>
                  <a:rPr lang="en-NZ" sz="1400" b="1" dirty="0">
                    <a:cs typeface="+mj-cs"/>
                  </a:rPr>
                  <a:t>forced too close to zero</a:t>
                </a:r>
                <a:endParaRPr lang="en-NZ" sz="1400" dirty="0">
                  <a:cs typeface="+mj-cs"/>
                </a:endParaRPr>
              </a:p>
              <a:p>
                <a:endParaRPr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Conclusion:</a:t>
                </a:r>
              </a:p>
              <a:p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Under-dispersion in variance components</a:t>
                </a:r>
              </a:p>
              <a:p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directly distorts inference on individual</a:t>
                </a:r>
              </a:p>
              <a:p>
                <a:r>
                  <a:rPr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effects.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1927612"/>
                <a:ext cx="4244195" cy="3725122"/>
              </a:xfrm>
              <a:prstGeom prst="rect">
                <a:avLst/>
              </a:prstGeom>
              <a:blipFill>
                <a:blip r:embed="rId3"/>
                <a:stretch>
                  <a:fillRect l="-718" t="-81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79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Zahra Torabi</cp:lastModifiedBy>
  <cp:revision>3</cp:revision>
  <dcterms:created xsi:type="dcterms:W3CDTF">2013-01-27T09:14:16Z</dcterms:created>
  <dcterms:modified xsi:type="dcterms:W3CDTF">2026-01-29T21:59:22Z</dcterms:modified>
  <cp:category/>
</cp:coreProperties>
</file>