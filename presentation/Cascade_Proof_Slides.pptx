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0" d="100"/>
          <a:sy n="120" d="100"/>
        </p:scale>
        <p:origin x="2304" y="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3087"/>
                </a:solidFill>
              </a:defRPr>
            </a:pPr>
            <a:r>
              <a:rPr sz="2400"/>
              <a:t>Does Hyper-parameter Under-dispersion Cascade?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32419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400"/>
            </a:pPr>
            <a:r>
              <a:rPr dirty="0"/>
              <a:t>We've shown p(τᵤ | y) is too narrow under VB</a:t>
            </a:r>
          </a:p>
          <a:p>
            <a:pPr>
              <a:spcAft>
                <a:spcPts val="2000"/>
              </a:spcAft>
              <a:defRPr sz="2400" b="1">
                <a:solidFill>
                  <a:srgbClr val="C80000"/>
                </a:solidFill>
              </a:defRPr>
            </a:pPr>
            <a:r>
              <a:t>Does </a:t>
            </a:r>
            <a:r>
              <a:rPr dirty="0"/>
              <a:t>this affect individual random effects u₁, u₂, ..., </a:t>
            </a:r>
            <a:r>
              <a:rPr dirty="0" err="1"/>
              <a:t>uQ</a:t>
            </a:r>
            <a:r>
              <a:rPr dirty="0"/>
              <a:t>?</a:t>
            </a:r>
          </a:p>
          <a:p>
            <a:pPr>
              <a:spcAft>
                <a:spcPts val="1000"/>
              </a:spcAft>
              <a:defRPr sz="2400"/>
            </a:pPr>
            <a:r>
              <a:rPr dirty="0"/>
              <a:t>Why it matters: Model structure creates dependency</a:t>
            </a:r>
          </a:p>
          <a:p>
            <a:pPr lvl="1">
              <a:spcAft>
                <a:spcPts val="2000"/>
              </a:spcAft>
              <a:defRPr sz="2000" i="1"/>
            </a:pPr>
            <a:r>
              <a:rPr dirty="0"/>
              <a:t>uᵢ ~ N(0, τᵤ⁻¹)   ← each uᵢ depends on τᵤ</a:t>
            </a:r>
          </a:p>
          <a:p>
            <a:pPr>
              <a:spcAft>
                <a:spcPts val="1000"/>
              </a:spcAft>
              <a:defRPr sz="2400" b="1"/>
            </a:pPr>
            <a:r>
              <a:rPr dirty="0"/>
              <a:t>Test: Compute SD ratios for every uᵢ</a:t>
            </a:r>
          </a:p>
          <a:p>
            <a:pPr lvl="1">
              <a:defRPr sz="2200">
                <a:solidFill>
                  <a:srgbClr val="003087"/>
                </a:solidFill>
              </a:defRPr>
            </a:pPr>
            <a:r>
              <a:rPr dirty="0"/>
              <a:t>rᵢ = SDᵥB(uᵢ) / </a:t>
            </a:r>
            <a:r>
              <a:rPr dirty="0" err="1"/>
              <a:t>SDGibbs</a:t>
            </a:r>
            <a:r>
              <a:rPr dirty="0"/>
              <a:t>(uᵢ)   for all </a:t>
            </a:r>
            <a:r>
              <a:rPr dirty="0" err="1"/>
              <a:t>i</a:t>
            </a:r>
            <a:r>
              <a:rPr dirty="0"/>
              <a:t> = 1, ..., Q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3087"/>
                </a:solidFill>
              </a:defRPr>
            </a:pPr>
            <a:r>
              <a:rPr sz="2400"/>
              <a:t>Method: Computing rᵢ for Each Group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800" b="1">
                <a:solidFill>
                  <a:srgbClr val="003087"/>
                </a:solidFill>
              </a:defRPr>
            </a:pPr>
            <a:r>
              <a:t>VB Approach</a:t>
            </a:r>
          </a:p>
          <a:p>
            <a:pPr>
              <a:spcAft>
                <a:spcPts val="800"/>
              </a:spcAft>
              <a:defRPr sz="2000"/>
            </a:pPr>
            <a:r>
              <a:t>Mean-field factorisation:</a:t>
            </a:r>
          </a:p>
          <a:p>
            <a:pPr>
              <a:spcAft>
                <a:spcPts val="1500"/>
              </a:spcAft>
              <a:defRPr sz="2200" i="1"/>
            </a:pPr>
            <a:r>
              <a:t>q(uᵢ) = N(μᵤᵢ, Σᵤᵤ[i,i])</a:t>
            </a:r>
          </a:p>
          <a:p>
            <a:pPr>
              <a:spcAft>
                <a:spcPts val="800"/>
              </a:spcAft>
              <a:defRPr sz="2000"/>
            </a:pPr>
            <a:r>
              <a:t>Therefore:</a:t>
            </a:r>
          </a:p>
          <a:p>
            <a:pPr>
              <a:defRPr sz="2400" b="1">
                <a:solidFill>
                  <a:srgbClr val="006400"/>
                </a:solidFill>
              </a:defRPr>
            </a:pPr>
            <a:r>
              <a:t>SDᵥB(uᵢ) = √Σᵤᵤ[i,i]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371600"/>
            <a:ext cx="3931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800" b="1">
                <a:solidFill>
                  <a:srgbClr val="C80064"/>
                </a:solidFill>
              </a:defRPr>
            </a:pPr>
            <a:r>
              <a:t>Gibbs Sampling</a:t>
            </a:r>
          </a:p>
          <a:p>
            <a:pPr>
              <a:spcAft>
                <a:spcPts val="800"/>
              </a:spcAft>
              <a:defRPr sz="2000"/>
            </a:pPr>
            <a:r>
              <a:t>MCMC samples:</a:t>
            </a:r>
          </a:p>
          <a:p>
            <a:pPr>
              <a:spcAft>
                <a:spcPts val="1500"/>
              </a:spcAft>
              <a:defRPr sz="2200" i="1"/>
            </a:pPr>
            <a:r>
              <a:t>{uᵢ⁽¹⁾, uᵢ⁽²⁾, ..., uᵢ⁽ˢ⁾}</a:t>
            </a:r>
          </a:p>
          <a:p>
            <a:pPr>
              <a:spcAft>
                <a:spcPts val="800"/>
              </a:spcAft>
              <a:defRPr sz="2000"/>
            </a:pPr>
            <a:r>
              <a:t>Therefore:</a:t>
            </a:r>
          </a:p>
          <a:p>
            <a:pPr>
              <a:defRPr sz="2400" b="1">
                <a:solidFill>
                  <a:srgbClr val="C80064"/>
                </a:solidFill>
              </a:defRPr>
            </a:pPr>
            <a:r>
              <a:t>SDGibbs(uᵢ) = sd(samples)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2200"/>
            </a:pPr>
            <a:r>
              <a:t>SD Ratio for each group:</a:t>
            </a:r>
          </a:p>
          <a:p>
            <a:pPr algn="ctr">
              <a:spcAft>
                <a:spcPts val="1200"/>
              </a:spcAft>
              <a:defRPr sz="2600" b="1">
                <a:solidFill>
                  <a:srgbClr val="003087"/>
                </a:solidFill>
              </a:defRPr>
            </a:pPr>
            <a:r>
              <a:t>rᵢ = SDᵥB(uᵢ) / SDGibbs(uᵢ)     for all i = 1, ..., Q</a:t>
            </a:r>
          </a:p>
          <a:p>
            <a:pPr algn="ctr">
              <a:defRPr sz="2000" i="1">
                <a:solidFill>
                  <a:srgbClr val="960000"/>
                </a:solidFill>
              </a:defRPr>
            </a:pPr>
            <a:r>
              <a:t>Key insight: If rᵢ &lt; 1 for all groups, cascade is confirmed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3087"/>
                </a:solidFill>
              </a:defRPr>
            </a:pPr>
            <a:r>
              <a:rPr sz="2400"/>
              <a:t>Results: Systematic Under-dispersion in All uᵢ</a:t>
            </a:r>
          </a:p>
        </p:txBody>
      </p:sp>
      <p:pic>
        <p:nvPicPr>
          <p:cNvPr id="3" name="Picture 2" descr="M2_u_i_box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5943600" cy="3566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42976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/>
            </a:pPr>
            <a:r>
              <a:t>Reference Lines:</a:t>
            </a:r>
          </a:p>
          <a:p>
            <a:pPr>
              <a:spcAft>
                <a:spcPts val="400"/>
              </a:spcAft>
              <a:defRPr sz="1200">
                <a:solidFill>
                  <a:srgbClr val="C80000"/>
                </a:solidFill>
              </a:defRPr>
            </a:pPr>
            <a:r>
              <a:t>— — —  Perfect match (r = 1.0)</a:t>
            </a:r>
          </a:p>
          <a:p>
            <a:pPr>
              <a:defRPr sz="1200">
                <a:solidFill>
                  <a:srgbClr val="FF8C00"/>
                </a:solidFill>
              </a:defRPr>
            </a:pPr>
            <a:r>
              <a:t>· · · · ·  Critical threshold (r = 0.8)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1371600"/>
            <a:ext cx="2286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400" b="1">
                <a:solidFill>
                  <a:srgbClr val="003087"/>
                </a:solidFill>
              </a:defRPr>
            </a:pPr>
            <a:r>
              <a:t>Key Findings</a:t>
            </a:r>
          </a:p>
          <a:p>
            <a:pPr>
              <a:spcAft>
                <a:spcPts val="1200"/>
              </a:spcAft>
              <a:defRPr sz="1800"/>
            </a:pPr>
            <a:r>
              <a:t>All 185 groups show rᵢ &lt; 1</a:t>
            </a:r>
          </a:p>
          <a:p>
            <a:pPr>
              <a:spcAft>
                <a:spcPts val="800"/>
              </a:spcAft>
              <a:defRPr sz="1800" b="1"/>
            </a:pPr>
            <a:r>
              <a:t>Mean ratios:</a:t>
            </a:r>
          </a:p>
          <a:p>
            <a:pPr lvl="1">
              <a:spcAft>
                <a:spcPts val="500"/>
              </a:spcAft>
              <a:defRPr sz="1600">
                <a:latin typeface="Consolas"/>
              </a:defRPr>
            </a:pPr>
            <a:r>
              <a:t>Q=5:   r̄ = 0.85</a:t>
            </a:r>
          </a:p>
          <a:p>
            <a:pPr lvl="1">
              <a:spcAft>
                <a:spcPts val="500"/>
              </a:spcAft>
              <a:defRPr sz="1600">
                <a:latin typeface="Consolas"/>
              </a:defRPr>
            </a:pPr>
            <a:r>
              <a:t>Q=20:  r̄ = 0.75</a:t>
            </a:r>
          </a:p>
          <a:p>
            <a:pPr lvl="1">
              <a:spcAft>
                <a:spcPts val="1500"/>
              </a:spcAft>
              <a:defRPr sz="1600">
                <a:latin typeface="Consolas"/>
              </a:defRPr>
            </a:pPr>
            <a:r>
              <a:t>Q=100: r̄ = 0.50</a:t>
            </a:r>
          </a:p>
          <a:p>
            <a:pPr>
              <a:spcAft>
                <a:spcPts val="800"/>
              </a:spcAft>
              <a:defRPr sz="1800" b="1">
                <a:solidFill>
                  <a:srgbClr val="C80000"/>
                </a:solidFill>
              </a:defRPr>
            </a:pPr>
            <a:r>
              <a:t>Cascade confirmed:</a:t>
            </a:r>
          </a:p>
          <a:p>
            <a:pPr lvl="1">
              <a:defRPr sz="1800">
                <a:solidFill>
                  <a:srgbClr val="C80000"/>
                </a:solidFill>
              </a:defRPr>
            </a:pPr>
            <a:r>
              <a:t>Wrong τᵤ → Wrong uᵢ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3087"/>
                </a:solidFill>
              </a:defRPr>
            </a:pPr>
            <a:r>
              <a:rPr sz="2400"/>
              <a:t>Example: Individual uᵢ Posteriors (Q=20)</a:t>
            </a:r>
          </a:p>
        </p:txBody>
      </p:sp>
      <p:pic>
        <p:nvPicPr>
          <p:cNvPr id="3" name="Picture 2" descr="M2_u_i_individual_Q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34747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4805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i="1"/>
            </a:pPr>
            <a:r>
              <a:t>VB posteriors (black line) systematically narrower than Gibbs (red histogram). SD ratios range from 0.72 to 0.81.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3087"/>
                </a:solidFill>
              </a:defRPr>
            </a:pPr>
            <a:r>
              <a:rPr sz="2400"/>
              <a:t>Distribution of SD Ratios Across All Groups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rPr sz="2400"/>
              <a:t>Larger Q amplifies under-dispersion in individual random effects</a:t>
            </a:r>
          </a:p>
        </p:txBody>
      </p:sp>
      <p:pic>
        <p:nvPicPr>
          <p:cNvPr id="4" name="Picture 3" descr="M2_u_i_viol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8229600" cy="3657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317</Words>
  <Application>Microsoft Office PowerPoint</Application>
  <PresentationFormat>On-screen Show (16:9)</PresentationFormat>
  <Paragraphs>37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David Ewing</cp:lastModifiedBy>
  <cp:revision>2</cp:revision>
  <dcterms:created xsi:type="dcterms:W3CDTF">2013-01-27T09:14:16Z</dcterms:created>
  <dcterms:modified xsi:type="dcterms:W3CDTF">2026-01-30T00:17:25Z</dcterms:modified>
  <cp:category/>
</cp:coreProperties>
</file>