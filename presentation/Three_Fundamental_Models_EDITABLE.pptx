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sz="2400"/>
              <a:t>Three Fundamental Models (M1 / M2 / M3)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183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D2E1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M1 Linear</a:t>
                      </a:r>
                    </a:p>
                  </a:txBody>
                  <a:tcPr>
                    <a:solidFill>
                      <a:srgbClr val="D2E1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M2 Hierarchical Linear</a:t>
                      </a:r>
                    </a:p>
                  </a:txBody>
                  <a:tcPr>
                    <a:solidFill>
                      <a:srgbClr val="D2E1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M3 Hierarchical Logistic</a:t>
                      </a:r>
                    </a:p>
                  </a:txBody>
                  <a:tcPr>
                    <a:solidFill>
                      <a:srgbClr val="D2E1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y_i ~ N(x_i^T β, τ_e^{-1})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y_{ij} ~ N(x_{ij}^T β + u_i, τ_e^{-1})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y_{ij} ~ Bernoulli(logit^{-1}(x_{ij}^T β + u_i))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Regression coefficients β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β ~ N(0, Γ_β)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β ~ N(0, Γ_β)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β ~ N(0, Γ_β)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Random effects u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u_i ~ N(0, τ_u^{-1})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u_i ~ N(0, τ_u^{-1})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Residual precision τ_e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τ_e ~ Gamma(α_e, β_e)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τ_e ~ Gamma(α_e, β_e)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Random-effects precision τ_u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τ_u ~ Gamma(α_u, β_u)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τ_u ~ Gamma(α_u, β_u)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