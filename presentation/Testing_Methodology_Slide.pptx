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3087"/>
                </a:solidFill>
              </a:defRPr>
            </a:pPr>
            <a:r>
              <a:rPr sz="2400"/>
              <a:t>Testing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600" b="1">
                <a:solidFill>
                  <a:srgbClr val="003087"/>
                </a:solidFill>
              </a:defRPr>
            </a:pPr>
            <a:r>
              <a:rPr/>
              <a:t>Comparison Strategy</a:t>
            </a:r>
          </a:p>
          <a:p>
            <a:pPr>
              <a:spcAft>
                <a:spcPts val="800"/>
              </a:spcAft>
              <a:defRPr sz="1800"/>
            </a:pPr>
            <a:r>
              <a:rPr/>
              <a:t>• Model 1: Exact posterior (Normal-Inverse-Gamma) vs VB vs Gibbs</a:t>
            </a:r>
          </a:p>
          <a:p>
            <a:pPr>
              <a:spcAft>
                <a:spcPts val="800"/>
              </a:spcAft>
              <a:defRPr sz="1800"/>
            </a:pPr>
            <a:r>
              <a:rPr/>
              <a:t>• Model 2: Gibbs sampling (MCMC/NUTS) as gold standard vs VB</a:t>
            </a:r>
          </a:p>
          <a:p>
            <a:pPr>
              <a:spcAft>
                <a:spcPts val="800"/>
              </a:spcAft>
              <a:defRPr sz="1800"/>
            </a:pPr>
            <a:r>
              <a:rPr/>
              <a:t>• Varied group counts Q ∈ {5, 10, 20, 50, 100} to assess shrinkage effects</a:t>
            </a:r>
          </a:p>
          <a:p>
            <a:pPr>
              <a:spcAft>
                <a:spcPts val="2500"/>
              </a:spcAft>
              <a:defRPr sz="1800"/>
            </a:pPr>
            <a:r>
              <a:rPr/>
              <a:t>• Measured SD ratios (VB/Gibbs) to quantify under-dispersion</a:t>
            </a:r>
          </a:p>
          <a:p>
            <a:pPr>
              <a:spcAft>
                <a:spcPts val="1000"/>
              </a:spcAft>
              <a:defRPr sz="2400" b="1">
                <a:solidFill>
                  <a:srgbClr val="DC143C"/>
                </a:solidFill>
              </a:defRPr>
            </a:pPr>
            <a:r>
              <a:rPr/>
              <a:t>Important Note: Model 3 Implementation</a:t>
            </a:r>
          </a:p>
          <a:p>
            <a:pPr>
              <a:defRPr sz="1800">
                <a:solidFill>
                  <a:srgbClr val="DC143C"/>
                </a:solidFill>
              </a:defRPr>
            </a:pPr>
            <a:r>
              <a:rPr/>
              <a:t>Model 3 (hierarchical logistic) was implemented incorrectly and results are not reliable. Analysis focuses on Models 1 and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