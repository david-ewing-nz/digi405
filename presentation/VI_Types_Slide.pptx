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3087"/>
                </a:solidFill>
              </a:defRPr>
            </a:pPr>
            <a:r>
              <a:rPr sz="2400"/>
              <a:t>Two Approaches to Variational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3087"/>
                </a:solidFill>
              </a:defRPr>
            </a:pPr>
            <a:r>
              <a:rPr/>
              <a:t>Fixed-Form Variational Bayes (FFVB)</a:t>
            </a:r>
          </a:p>
          <a:p>
            <a:pPr>
              <a:spcAft>
                <a:spcPts val="2000"/>
              </a:spcAft>
              <a:defRPr sz="1800"/>
            </a:pPr>
            <a:r>
              <a:rPr/>
              <a:t>Assumes a specific parametric form (e.g., Gaussian) for the entire posterior</a:t>
            </a:r>
          </a:p>
          <a:p>
            <a:pPr>
              <a:spcAft>
                <a:spcPts val="1000"/>
              </a:spcAft>
              <a:defRPr sz="2400" b="1">
                <a:solidFill>
                  <a:srgbClr val="003087"/>
                </a:solidFill>
              </a:defRPr>
            </a:pPr>
            <a:r>
              <a:rPr/>
              <a:t>Mean-Field Variational Bayes (MFVB)</a:t>
            </a:r>
          </a:p>
          <a:p>
            <a:pPr>
              <a:spcAft>
                <a:spcPts val="500"/>
              </a:spcAft>
              <a:defRPr sz="1800"/>
            </a:pPr>
            <a:r>
              <a:rPr/>
              <a:t>Factorises the posterior into independent components</a:t>
            </a:r>
          </a:p>
          <a:p>
            <a:pPr>
              <a:spcAft>
                <a:spcPts val="2500"/>
              </a:spcAft>
              <a:defRPr sz="1800"/>
            </a:pPr>
            <a:r>
              <a:rPr/>
              <a:t>Enables closed-form updates for conditionally conjugate models</a:t>
            </a:r>
          </a:p>
          <a:p>
            <a:pPr algn="ctr">
              <a:defRPr sz="2200" b="1">
                <a:solidFill>
                  <a:srgbClr val="FF8C00"/>
                </a:solidFill>
              </a:defRPr>
            </a:pPr>
            <a:r>
              <a:rPr/>
              <a:t>This presentation focuses exclusively on Mean-Field VB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